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37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tech_telecom_concept_illustration_on_a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F5F4F3">
              <a:alpha val="95000"/>
            </a:srgbClr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731520"/>
            <a:ext cx="4937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02A41"/>
                </a:solidFill>
                <a:latin typeface="Arial Black" panose="020B0A04020102020204" pitchFamily="34" charset="0"/>
              </a:rPr>
              <a:t>An Imbalance-Aware, Threshold-Aware and Explainable Machine Learning Framework for Telecom Customer Churn</a:t>
            </a:r>
          </a:p>
        </p:txBody>
      </p:sp>
      <p:sp>
        <p:nvSpPr>
          <p:cNvPr id="7" name="Shape 4"/>
          <p:cNvSpPr/>
          <p:nvPr/>
        </p:nvSpPr>
        <p:spPr>
          <a:xfrm>
            <a:off x="530352" y="3063240"/>
            <a:ext cx="43891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246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86A5"/>
                </a:solidFill>
              </a:rPr>
              <a:t>Presented</a:t>
            </a:r>
            <a:r>
              <a:rPr lang="en-US" sz="880" b="1" dirty="0">
                <a:solidFill>
                  <a:srgbClr val="6E86A5"/>
                </a:solidFill>
              </a:rPr>
              <a:t> by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777240" y="3456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A41"/>
                </a:solidFill>
              </a:rPr>
              <a:t>Md Ezaz </a:t>
            </a:r>
            <a:r>
              <a:rPr lang="en-US" b="1" dirty="0">
                <a:solidFill>
                  <a:srgbClr val="202A41"/>
                </a:solidFill>
              </a:rPr>
              <a:t>Mahmud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785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16988"/>
                </a:solidFill>
              </a:rPr>
              <a:t>ID: 2023-1-60-000  |  Course: CSE 475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16988"/>
                </a:solidFill>
              </a:rPr>
              <a:t>Department of CSE, East West University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0352" y="4645151"/>
            <a:ext cx="4480560" cy="69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Submitted to:</a:t>
            </a:r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Dr. Md. Atiqur Rahman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Assistant Professor, Department of CSE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Why Churn Matters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means a subscriber leaves the telecom service provider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14173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Business Motivation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1920240"/>
            <a:ext cx="3026664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Retaining existing customers is often more cost-effective than acquiring new customers. Churn prediction helps telecom providers identify high-risk customers early.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43400" y="14173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Machine Learning Role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44568" y="1920240"/>
            <a:ext cx="3026664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ML models can learn patterns from customer contract, billing, tenure and service information to estimate churn risk.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141732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93608" y="155448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Our Shift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93608" y="1920240"/>
            <a:ext cx="3026664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This project moves beyond only predicting churn and studies how predicted probabilities become retention decisions.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63040" y="5486400"/>
            <a:ext cx="9235440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188720" y="5623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Prediction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40680" y="5623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Risk score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81160" y="5623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8C28"/>
                </a:solidFill>
              </a:rPr>
              <a:t>Retention decision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Research Gap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churn model can look good by metrics but still miss many actual churners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750924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1325880"/>
            <a:ext cx="521208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46304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02A41"/>
                </a:solidFill>
              </a:rPr>
              <a:t>Common Limitation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5528" y="1828800"/>
            <a:ext cx="480974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Many churn studies focus on accuracy, F1-score or ROC-AUC. However, operational retention decisions depend on the threshold and the cost of missed churners versus false alarms.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72200" y="1325880"/>
            <a:ext cx="539496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146304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Our Research Gap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73368" y="1828800"/>
            <a:ext cx="499262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Limited integrated analysis of class imbalance + threshold adjustment + FN/FP decision cost + explainability under a leakage-safe evaluation framework.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828800" y="5166360"/>
            <a:ext cx="8595360" cy="685800"/>
          </a:xfrm>
          <a:prstGeom prst="roundRect">
            <a:avLst>
              <a:gd name="adj" fmla="val 16000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53949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Core idea: evaluate churn prediction as a decision problem, not only as a prediction problem.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study is organized around three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1554480"/>
            <a:ext cx="3246120" cy="361188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41"/>
                </a:solidFill>
              </a:rPr>
              <a:t>RQ1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05840" y="25146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4324A"/>
                </a:solidFill>
              </a:rPr>
              <a:t>How do class-imbalance strategies affect churn prediction performance?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" y="43434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86A5"/>
                </a:solidFill>
              </a:rPr>
              <a:t>Imbalance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3246120" cy="3611880"/>
          </a:xfrm>
          <a:prstGeom prst="roundRect">
            <a:avLst>
              <a:gd name="adj" fmla="val 3944"/>
            </a:avLst>
          </a:prstGeom>
          <a:solidFill>
            <a:srgbClr val="202A41"/>
          </a:solidFill>
          <a:ln w="15240">
            <a:solidFill>
              <a:srgbClr val="202A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8C28"/>
                </a:solidFill>
              </a:rPr>
              <a:t>RQ2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00600" y="25146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How does threshold adjustment change the trade-off between missed churners and false alarms?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0600" y="43434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E1F1"/>
                </a:solidFill>
              </a:rPr>
              <a:t>Threshold + Decision Cost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1554480"/>
            <a:ext cx="3246120" cy="361188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8288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A41"/>
                </a:solidFill>
              </a:rPr>
              <a:t>RQ3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595360" y="25146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24324A"/>
                </a:solidFill>
              </a:rPr>
              <a:t>Which customer features most influence the final model’s churn predictions?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595360" y="43434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86A5"/>
                </a:solidFill>
              </a:rPr>
              <a:t>Explainability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Research Workflow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50924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180E6E-283B-434D-A561-FD290649F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950" y="1030060"/>
            <a:ext cx="9282950" cy="52244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Telco Customer Churn Dataset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6611112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86A5"/>
                </a:solidFill>
              </a:rPr>
              <a:t>Telecom Customer Churn Prediction | CSE 475 | East West University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1298448"/>
            <a:ext cx="205740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4630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A41"/>
                </a:solidFill>
              </a:rPr>
              <a:t>7,043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" y="19202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Total Customers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71800" y="1298448"/>
            <a:ext cx="205740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14630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A41"/>
                </a:solidFill>
              </a:rPr>
              <a:t>21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081528" y="19202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Total Columns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03520" y="1298448"/>
            <a:ext cx="205740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14630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</a:rPr>
              <a:t>Churn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13248" y="19202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Target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35240" y="1298448"/>
            <a:ext cx="2057400" cy="1133856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44968" y="146304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8F8F"/>
                </a:solidFill>
              </a:rPr>
              <a:t>Binary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744968" y="192024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Problem Type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78892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292608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Target Distribution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4107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324A"/>
                </a:solidFill>
              </a:rPr>
              <a:t>Non-Churn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447288"/>
            <a:ext cx="2148840" cy="146304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3447288"/>
            <a:ext cx="1578603" cy="146304"/>
          </a:xfrm>
          <a:prstGeom prst="roundRect">
            <a:avLst>
              <a:gd name="adj" fmla="val 31250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4198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16988"/>
                </a:solidFill>
              </a:rPr>
              <a:t>5174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8953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4324A"/>
                </a:solidFill>
              </a:rPr>
              <a:t>Churn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0" y="3931920"/>
            <a:ext cx="2148840" cy="146304"/>
          </a:xfrm>
          <a:prstGeom prst="roundRect">
            <a:avLst>
              <a:gd name="adj" fmla="val 31250"/>
            </a:avLst>
          </a:prstGeom>
          <a:solidFill>
            <a:srgbClr val="E8EDF3"/>
          </a:solidFill>
          <a:ln w="12700">
            <a:solidFill>
              <a:srgbClr val="E8EDF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3931920"/>
            <a:ext cx="570237" cy="146304"/>
          </a:xfrm>
          <a:prstGeom prst="roundRect">
            <a:avLst>
              <a:gd name="adj" fmla="val 31250"/>
            </a:avLst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904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16988"/>
                </a:solidFill>
              </a:rPr>
              <a:t>1869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278892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2926080"/>
            <a:ext cx="4718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Key Insight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73368" y="3291840"/>
            <a:ext cx="4718304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The target is imbalanced: non-churn customers are much higher than churn customers. Therefore, accuracy alone can be misleading.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&amp; Leakage Safety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test set was locked before model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72600" y="6611112"/>
            <a:ext cx="2423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5"/>
                </a:solidFill>
              </a:rPr>
              <a:t>Md Ezaz Mahmud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1472184"/>
            <a:ext cx="109728" cy="1097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417320"/>
            <a:ext cx="5193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Removed customerID because it is only an identifier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1911096"/>
            <a:ext cx="109728" cy="1097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1856232"/>
            <a:ext cx="5193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Converted TotalCharges from object to numeric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2350008"/>
            <a:ext cx="109728" cy="1097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295144"/>
            <a:ext cx="5193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Encoded target: No = 0, Yes =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2788920"/>
            <a:ext cx="109728" cy="10972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734056"/>
            <a:ext cx="51937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Used stratified 80/20 development-test split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793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02A41"/>
                </a:solidFill>
              </a:rPr>
              <a:t>Development set: 5,634 customers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40680" y="4526280"/>
            <a:ext cx="1097280" cy="0"/>
          </a:xfrm>
          <a:prstGeom prst="line">
            <a:avLst/>
          </a:prstGeom>
          <a:noFill/>
          <a:ln w="317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20840" y="40233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202A41"/>
          </a:solidFill>
          <a:ln w="12700">
            <a:solidFill>
              <a:srgbClr val="202A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2793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Locked final test: 1,409 customers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492240" y="1417320"/>
            <a:ext cx="4800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554480"/>
            <a:ext cx="4398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Leakage Safety Rule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93408" y="1920240"/>
            <a:ext cx="4398264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All preprocessing, tuning, threshold search and decision-cost analysis used development data only. The final test was opened once after model and threshold selection.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Imbalance Strategies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design compared 20 model-strategy combinations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1280160"/>
            <a:ext cx="53949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417320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Five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1783080"/>
            <a:ext cx="499262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Logistic Regression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Decision Tree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Random Forest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XGBoost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LightGBM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1280160"/>
            <a:ext cx="53035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41732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Four Imbalance Strategies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1783080"/>
            <a:ext cx="4901184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Original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Class Weight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SMOTENC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SMOTENC + ENN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286000" y="5532120"/>
            <a:ext cx="7635240" cy="411480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5650992"/>
            <a:ext cx="7360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 models × 4 strategies = 20 baseline combinations | Primary metric: Average Precision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RQ1: Model Selection and Tuning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Precision was used as the primary ranking metric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280160"/>
            <a:ext cx="3703320" cy="40233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1417320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Best Tuned Candidate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" y="1783080"/>
            <a:ext cx="330098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Model: XGBoost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Strategy: Original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Mean CV AP: 0.6714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OOF AP: 0.6682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17720" y="1280160"/>
            <a:ext cx="3154680" cy="40233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417320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Why AP?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18888" y="1783080"/>
            <a:ext cx="275234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Accuracy can hide weak minority-class detection. AP focuses on precision-recall behavior, which is more suitable for imbalanced churn data.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12801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141732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Key Insight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7888" y="1783080"/>
            <a:ext cx="3118104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Class Weight increased churn recall at 0.50, but it did not improve ranking ability compared with Original XGBoost.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559552"/>
            <a:ext cx="10424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16988"/>
                </a:solidFill>
              </a:rPr>
              <a:t>Tuned XGBoost Original vs Class Weight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and Decision-Cost Framework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 threshold changes retention actions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371600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Threshold Scan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1737360"/>
            <a:ext cx="284378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Default threshold: 0.50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Scanned range: 0.01 to 0.99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Metrics: precision, recall, F1, FN, FP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160520" y="1234440"/>
            <a:ext cx="3657600" cy="4251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137160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Decision Cost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61688" y="1737360"/>
            <a:ext cx="325526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Cᵣ(t) = [r × FN(t) + FP(t)] / 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r = relative importance of false negatives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138160" y="1234440"/>
            <a:ext cx="3429000" cy="42519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137160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Scenarios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9328" y="1737360"/>
            <a:ext cx="3026664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FN:FP = 2:1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FN:FP = 5:1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FN:FP = 10:1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No actual monetary cost was claimed.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and Threshold Selection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before opening the final test 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128016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4173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Selection Rule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" y="1783080"/>
            <a:ext cx="3621024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Minimax relative regret selected one model-threshold combination that performs robustly across 2:1, 5:1 and 10:1 scenarios.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1280160"/>
            <a:ext cx="57607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6088" y="1417320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Locked Final Configuration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</a:rPr>
              <a:t>XGBoost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0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16988"/>
                </a:solidFill>
              </a:rPr>
              <a:t>Model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2057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88F8F"/>
                </a:solidFill>
              </a:rPr>
              <a:t>Original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955280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16988"/>
                </a:solidFill>
              </a:rPr>
              <a:t>Strategy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28C28"/>
                </a:solidFill>
              </a:rPr>
              <a:t>0.18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3858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16988"/>
                </a:solidFill>
              </a:rPr>
              <a:t>Threshold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0956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54848"/>
                </a:solidFill>
              </a:rPr>
              <a:t>No further model, parameter or threshold changes after this point.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VALIDATION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Locked-Test Results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true held-out evaluation on 1,409 customers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234440"/>
            <a:ext cx="205740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399032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A41"/>
                </a:solidFill>
              </a:rPr>
              <a:t>0.665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" y="18562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Average Precision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4640" y="1234440"/>
            <a:ext cx="205740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1399032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A41"/>
                </a:solidFill>
              </a:rPr>
              <a:t>0.847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944368" y="18562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ROC-AUC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0" y="1234440"/>
            <a:ext cx="205740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399032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8C28"/>
                </a:solidFill>
              </a:rPr>
              <a:t>0.861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138928" y="18562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Recall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23760" y="1234440"/>
            <a:ext cx="205740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33488" y="1399032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88F8F"/>
                </a:solidFill>
              </a:rPr>
              <a:t>0.599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333488" y="18562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F1-score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18320" y="1234440"/>
            <a:ext cx="2057400" cy="1042416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3E1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1399032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E86A5"/>
                </a:solidFill>
              </a:rPr>
              <a:t>0.693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528048" y="185623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16988"/>
                </a:solidFill>
              </a:rPr>
              <a:t>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2788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2A41"/>
                </a:solidFill>
              </a:rPr>
              <a:t>Confusion Matrix at Threshold 0.18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68680" y="3154680"/>
            <a:ext cx="1697126" cy="512064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218688"/>
            <a:ext cx="16056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5806" y="3154680"/>
            <a:ext cx="1803197" cy="512064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1526" y="3218688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Predicted Non-Churn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69003" y="3154680"/>
            <a:ext cx="1803197" cy="512064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4723" y="3218688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Predicted Churn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" y="3666744"/>
            <a:ext cx="1697126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3730752"/>
            <a:ext cx="16056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Actual Non-Churn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5806" y="3666744"/>
            <a:ext cx="1803197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1526" y="3730752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655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69003" y="3666744"/>
            <a:ext cx="1803197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14723" y="3730752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380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8680" y="4178808"/>
            <a:ext cx="1697126" cy="512064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242816"/>
            <a:ext cx="16056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Actual Churn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565806" y="4178808"/>
            <a:ext cx="1803197" cy="512064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1526" y="4242816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52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369003" y="4178808"/>
            <a:ext cx="1803197" cy="512064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14723" y="4242816"/>
            <a:ext cx="171175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322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675120" y="3017520"/>
            <a:ext cx="45720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3154680"/>
            <a:ext cx="4169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6288" y="3520440"/>
            <a:ext cx="4169664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At the selected threshold, the model detected 322 out of 374 churners and missed only 52 churners.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VALIDATION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0.50 vs Selected 0.18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changed the type of mistakes the model made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1417320"/>
            <a:ext cx="2171700" cy="530352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81328"/>
            <a:ext cx="20802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48940" y="1417320"/>
            <a:ext cx="1771650" cy="530352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4660" y="1481328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Default 0.50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20590" y="1417320"/>
            <a:ext cx="1771650" cy="530352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6310" y="1481328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Selected 0.18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1947672"/>
            <a:ext cx="21717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011680"/>
            <a:ext cx="20802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24A"/>
                </a:solidFill>
              </a:rPr>
              <a:t>Recall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48940" y="1947672"/>
            <a:ext cx="177165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4660" y="2011680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0.5321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20590" y="1947672"/>
            <a:ext cx="177165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66310" y="2011680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0.8610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2478024"/>
            <a:ext cx="217170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542032"/>
            <a:ext cx="20802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24A"/>
                </a:solidFill>
              </a:rPr>
              <a:t>F1-score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8940" y="2478024"/>
            <a:ext cx="177165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4660" y="2542032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0.5940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20590" y="2478024"/>
            <a:ext cx="177165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6310" y="2542032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0.5985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3008376"/>
            <a:ext cx="21717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3072384"/>
            <a:ext cx="20802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24A"/>
                </a:solidFill>
              </a:rPr>
              <a:t>False Negatives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48940" y="3008376"/>
            <a:ext cx="177165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4660" y="3072384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175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20590" y="3008376"/>
            <a:ext cx="177165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6310" y="3072384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52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3538728"/>
            <a:ext cx="217170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602736"/>
            <a:ext cx="20802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24324A"/>
                </a:solidFill>
              </a:rPr>
              <a:t>False Positives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48940" y="3538728"/>
            <a:ext cx="177165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4660" y="3602736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97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20590" y="3538728"/>
            <a:ext cx="1771650" cy="530352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66310" y="3602736"/>
            <a:ext cx="16802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4324A"/>
                </a:solidFill>
              </a:rPr>
              <a:t>380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1554480"/>
            <a:ext cx="438912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04888" y="1691640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Main Trade-off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04888" y="2057400"/>
            <a:ext cx="3986784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The selected threshold reduced missed churners from 175 to 52, but increased false positives from 97 to 380.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914400" y="5166360"/>
            <a:ext cx="10332720" cy="566928"/>
          </a:xfrm>
          <a:prstGeom prst="roundRect">
            <a:avLst>
              <a:gd name="adj" fmla="val 19355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43000" y="5358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Threshold selection is a business decision, not only a machine learning decision.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Decision-Cost Findings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selected threshold is useful when missing churners is more costly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1417320"/>
            <a:ext cx="2103120" cy="612648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81328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FN:FP Scenario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80360" y="1417320"/>
            <a:ext cx="2103120" cy="612648"/>
          </a:xfrm>
          <a:prstGeom prst="rect">
            <a:avLst/>
          </a:prstGeom>
          <a:solidFill>
            <a:srgbClr val="202A41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1481328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Cost Change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029968"/>
            <a:ext cx="210312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93976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2:1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80360" y="2029968"/>
            <a:ext cx="210312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093976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8.28% worse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642616"/>
            <a:ext cx="2103120" cy="612648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706624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5:1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80360" y="2642616"/>
            <a:ext cx="2103120" cy="612648"/>
          </a:xfrm>
          <a:prstGeom prst="rect">
            <a:avLst/>
          </a:prstGeom>
          <a:solidFill>
            <a:srgbClr val="EEF4FA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706624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34.16% better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3255264"/>
            <a:ext cx="210312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319272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10:1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80360" y="3255264"/>
            <a:ext cx="2103120" cy="612648"/>
          </a:xfrm>
          <a:prstGeom prst="rect">
            <a:avLst/>
          </a:prstGeom>
          <a:solidFill>
            <a:srgbClr val="FFFFFF"/>
          </a:solidFill>
          <a:ln w="7620">
            <a:solidFill>
              <a:srgbClr val="D3E1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3319272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4324A"/>
                </a:solidFill>
              </a:rPr>
              <a:t>51.27% better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0" y="1417320"/>
            <a:ext cx="5577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155448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Interpretation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87568" y="1920240"/>
            <a:ext cx="5175504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No threshold is universally best. When false negatives are highly costly, threshold 0.18 provides better decision utility. When false positives are relatively important, it may be worse.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69280" y="4709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2A41"/>
                </a:solidFill>
              </a:rPr>
              <a:t>Final decision depends on business cost assumptions.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explains how features contributed to the final model’s predictions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pic>
        <p:nvPicPr>
          <p:cNvPr id="14" name="Image 0" descr="/mnt/data/wide_clean_infographic_diagram_on_a_light_cream.png"/>
          <p:cNvPicPr>
            <a:picLocks noChangeAspect="1"/>
          </p:cNvPicPr>
          <p:nvPr/>
        </p:nvPicPr>
        <p:blipFill>
          <a:blip r:embed="rId3"/>
          <a:srcRect l="8142" r="8142"/>
          <a:stretch/>
        </p:blipFill>
        <p:spPr>
          <a:xfrm>
            <a:off x="5963770" y="1389888"/>
            <a:ext cx="5374789" cy="3657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40080" y="1234440"/>
            <a:ext cx="48920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137160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Top Original Features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1248" y="1737360"/>
            <a:ext cx="4489704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1. Contract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2. tenure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3. InternetService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4. MonthlyCharges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5. OnlineSecurity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6. PaymentMethod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7. TechSupport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8. PaperlessBilling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9. MultipleLines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4324A"/>
                </a:solidFill>
              </a:rPr>
              <a:t>10. TotalCharges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22960" y="557784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4848"/>
                </a:solidFill>
              </a:rPr>
              <a:t>Important: SHAP shows model-level associations, not causality.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2700">
            <a:solidFill>
              <a:srgbClr val="F5F4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Limitations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study shows and what it does not claim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123444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137160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5528" y="1737360"/>
            <a:ext cx="4946904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Imbalance strategies changed model behavior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Default 0.50 threshold missed many churners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Selected 0.18 reduced FN from 175 to 52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Decision usefulness depends on FN/FP cost assumptions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Contract and tenure were strongest SHAP drivers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123444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137160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2A4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1737360"/>
            <a:ext cx="4946904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Single public telecom dataset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No actual customer lifetime 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No real retention campaign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FN:FP ratios are hypothetical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SHAP is not causal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4324A"/>
                </a:solidFill>
              </a:rPr>
              <a:t>• No external validation dataset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churn model should be evaluated as a decision-support system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1325880"/>
            <a:ext cx="106070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4605">
            <a:solidFill>
              <a:srgbClr val="D3E1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1463040"/>
            <a:ext cx="10204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28C28"/>
                </a:solidFill>
              </a:rPr>
              <a:t>Final Message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8408" y="1828800"/>
            <a:ext cx="1020470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4324A"/>
                </a:solidFill>
              </a:rPr>
              <a:t>Accuracy or ROC-AUC alone is not enough. In churn prediction, the selected threshold strongly affects how many churners are detected and how many non-churners are unnecessarily targeted.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15479" y="3410712"/>
            <a:ext cx="729691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00311" y="3410712"/>
            <a:ext cx="729691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5143" y="3410712"/>
            <a:ext cx="729691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69975" y="3410712"/>
            <a:ext cx="729691" cy="0"/>
          </a:xfrm>
          <a:prstGeom prst="line">
            <a:avLst/>
          </a:prstGeom>
          <a:noFill/>
          <a:ln w="25400">
            <a:solidFill>
              <a:srgbClr val="6E86A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" y="3154680"/>
            <a:ext cx="150107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282696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Leakage-safe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99232" y="3154680"/>
            <a:ext cx="150107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3282696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Imbalance-aware models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84064" y="3154680"/>
            <a:ext cx="150107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9784" y="3282696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Threshold-aware decisions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68896" y="3154680"/>
            <a:ext cx="150107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14616" y="3282696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Decision-cost analysis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53728" y="3154680"/>
            <a:ext cx="1501079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5240">
            <a:solidFill>
              <a:srgbClr val="D3E1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99448" y="3282696"/>
            <a:ext cx="12925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02A41"/>
                </a:solidFill>
              </a:rPr>
              <a:t>SHAP explanation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97280" y="47548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02A41"/>
                </a:solidFill>
              </a:rPr>
              <a:t>Final model: XGBoost + Original strategy + threshold 0.18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234440" y="5285232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516988"/>
                </a:solidFill>
              </a:rPr>
              <a:t>The framework moves from predicting churn to supporting retention decisions.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601968"/>
            <a:ext cx="11338560" cy="0"/>
          </a:xfrm>
          <a:prstGeom prst="line">
            <a:avLst/>
          </a:prstGeom>
          <a:noFill/>
          <a:ln w="10160">
            <a:solidFill>
              <a:srgbClr val="D3E1F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55080"/>
            <a:ext cx="2834640" cy="109728"/>
          </a:xfrm>
          <a:prstGeom prst="rect">
            <a:avLst/>
          </a:prstGeom>
          <a:solidFill>
            <a:srgbClr val="D3E1F1">
              <a:alpha val="50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4592"/>
            <a:ext cx="2286000" cy="91440"/>
          </a:xfrm>
          <a:prstGeom prst="rect">
            <a:avLst/>
          </a:prstGeom>
          <a:solidFill>
            <a:srgbClr val="D3E1F1">
              <a:alpha val="45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31089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E86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1148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0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169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Harvard-style references used in the paper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44200" y="713232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44200" y="7818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1353312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1298448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Manzoor et al. (2024), IEEE Access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1737360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1682496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Chang et al. (2024), Algorithms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121408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066544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Sikri et al. (2024), Scientific Reports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505456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2450592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Poudel et al. (2024), Machine Learning with Applications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2889504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2834640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Saleh and Saha (2023), SN Applied Sciences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273552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218688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Wagh et al. (2024), Results in Control and Optimization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3657600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602736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Asif et al. (2025), Results in Engineering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4041648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986784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Ouf et al. (2024), Journal of Big Data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425696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370832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Alotaibi and Haq (2024), ETASR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4809744"/>
            <a:ext cx="109728" cy="109728"/>
          </a:xfrm>
          <a:prstGeom prst="ellipse">
            <a:avLst/>
          </a:prstGeom>
          <a:solidFill>
            <a:srgbClr val="6E86A5"/>
          </a:solidFill>
          <a:ln w="12700">
            <a:solidFill>
              <a:srgbClr val="6E86A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4754880"/>
            <a:ext cx="10588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4324A"/>
                </a:solidFill>
              </a:rPr>
              <a:t>AlShourbaji et al. (2023), Scientific Reports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A41"/>
          </a:solidFill>
          <a:ln w="12700">
            <a:solidFill>
              <a:srgbClr val="202A4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834640" y="2880360"/>
            <a:ext cx="649224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3E1F1">
                <a:alpha val="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1289</Words>
  <Application>Microsoft Office PowerPoint</Application>
  <PresentationFormat>Widescreen</PresentationFormat>
  <Paragraphs>284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East West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Churn Prediction to Retention Decisions</dc:title>
  <dc:subject>Telecom Customer Churn Prediction Presentation</dc:subject>
  <dc:creator>Md Ezaz Mahmud</dc:creator>
  <cp:lastModifiedBy>Ezaz Mahmud</cp:lastModifiedBy>
  <cp:revision>2</cp:revision>
  <dcterms:created xsi:type="dcterms:W3CDTF">2026-08-16T16:17:01Z</dcterms:created>
  <dcterms:modified xsi:type="dcterms:W3CDTF">2026-08-16T17:05:41Z</dcterms:modified>
</cp:coreProperties>
</file>